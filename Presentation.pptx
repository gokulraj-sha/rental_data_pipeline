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12" r:id="rId1"/>
  </p:sldMasterIdLst>
  <p:sldIdLst>
    <p:sldId id="256" r:id="rId2"/>
    <p:sldId id="257" r:id="rId3"/>
    <p:sldId id="275" r:id="rId4"/>
    <p:sldId id="258" r:id="rId5"/>
    <p:sldId id="259" r:id="rId6"/>
    <p:sldId id="260" r:id="rId7"/>
    <p:sldId id="262" r:id="rId8"/>
    <p:sldId id="271" r:id="rId9"/>
    <p:sldId id="272" r:id="rId10"/>
    <p:sldId id="273" r:id="rId11"/>
    <p:sldId id="264" r:id="rId12"/>
    <p:sldId id="266" r:id="rId13"/>
    <p:sldId id="267" r:id="rId14"/>
    <p:sldId id="268" r:id="rId15"/>
    <p:sldId id="277" r:id="rId16"/>
    <p:sldId id="27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5" d="100"/>
          <a:sy n="85" d="100"/>
        </p:scale>
        <p:origin x="547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3047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603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241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546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808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0163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8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78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27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809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8347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4133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Rental Data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CodeFlux</a:t>
            </a:r>
          </a:p>
        </p:txBody>
      </p:sp>
    </p:spTree>
    <p:extLst>
      <p:ext uri="{BB962C8B-B14F-4D97-AF65-F5344CB8AC3E}">
        <p14:creationId xmlns:p14="http://schemas.microsoft.com/office/powerpoint/2010/main" val="1805150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341654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Mallika Shree K C</a:t>
            </a:r>
          </a:p>
          <a:p>
            <a:pPr>
              <a:lnSpc>
                <a:spcPct val="150000"/>
              </a:lnSpc>
            </a:pPr>
            <a:r>
              <a:rPr lang="en-US" dirty="0"/>
              <a:t>Sakshath Shetty</a:t>
            </a:r>
          </a:p>
          <a:p>
            <a:pPr>
              <a:lnSpc>
                <a:spcPct val="150000"/>
              </a:lnSpc>
            </a:pPr>
            <a:r>
              <a:rPr lang="en-US" dirty="0"/>
              <a:t>Smita Hegde</a:t>
            </a:r>
          </a:p>
          <a:p>
            <a:pPr>
              <a:lnSpc>
                <a:spcPct val="150000"/>
              </a:lnSpc>
            </a:pPr>
            <a:r>
              <a:rPr lang="en-US" dirty="0"/>
              <a:t>Vijay Kumar E </a:t>
            </a:r>
          </a:p>
          <a:p>
            <a:pPr>
              <a:lnSpc>
                <a:spcPct val="150000"/>
              </a:lnSpc>
            </a:pPr>
            <a:r>
              <a:rPr lang="en-US" dirty="0"/>
              <a:t>Gokul Raj S </a:t>
            </a:r>
          </a:p>
        </p:txBody>
      </p:sp>
    </p:spTree>
    <p:extLst>
      <p:ext uri="{BB962C8B-B14F-4D97-AF65-F5344CB8AC3E}">
        <p14:creationId xmlns:p14="http://schemas.microsoft.com/office/powerpoint/2010/main" val="424048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529" y="2214282"/>
            <a:ext cx="10528151" cy="3654812"/>
          </a:xfrm>
        </p:spPr>
        <p:txBody>
          <a:bodyPr/>
          <a:lstStyle/>
          <a:p>
            <a:pPr marL="0" indent="0" algn="just">
              <a:lnSpc>
                <a:spcPct val="100000"/>
              </a:lnSpc>
              <a:buClrTx/>
              <a:buNone/>
            </a:pPr>
            <a:r>
              <a:rPr lang="en-IN" dirty="0"/>
              <a:t>The project Rental Data Pipeline is designed to build a scalable and automated data processing workflow that extracts, transforms, and loads (ETL) vehicle rental data from raw CSV files into optimized, query-ready Parquet format using </a:t>
            </a:r>
            <a:r>
              <a:rPr lang="en-IN" dirty="0" err="1"/>
              <a:t>PySpark</a:t>
            </a:r>
            <a:r>
              <a:rPr lang="en-IN" dirty="0"/>
              <a:t> and AWS.</a:t>
            </a:r>
          </a:p>
          <a:p>
            <a:pPr marL="0" indent="0" algn="just">
              <a:lnSpc>
                <a:spcPct val="100000"/>
              </a:lnSpc>
              <a:buClrTx/>
              <a:buNone/>
            </a:pPr>
            <a:endParaRPr lang="en-IN" dirty="0"/>
          </a:p>
          <a:p>
            <a:r>
              <a:rPr lang="en-US" dirty="0"/>
              <a:t>The main goal of the ETL pipeline is to:</a:t>
            </a:r>
          </a:p>
          <a:p>
            <a:pPr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 Extract raw datasets from Amazon S3 storage.</a:t>
            </a:r>
          </a:p>
          <a:p>
            <a:pPr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 Transform the data using </a:t>
            </a:r>
            <a:r>
              <a:rPr lang="en-US" dirty="0" err="1"/>
              <a:t>PySpark</a:t>
            </a:r>
            <a:r>
              <a:rPr lang="en-US" dirty="0"/>
              <a:t>.</a:t>
            </a:r>
          </a:p>
          <a:p>
            <a:pPr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 Load the processed, enriched data back into S3 in Parquet format, partitioned by year and month.</a:t>
            </a:r>
          </a:p>
          <a:p>
            <a:endParaRPr lang="en-US" dirty="0"/>
          </a:p>
          <a:p>
            <a:pPr algn="just">
              <a:lnSpc>
                <a:spcPct val="100000"/>
              </a:lnSpc>
              <a:buClrTx/>
              <a:buFont typeface="Wingdings" panose="05000000000000000000" pitchFamily="2" charset="2"/>
              <a:buChar char="Ø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96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CD9C297-3114-1DCC-EF48-D04D919367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7280" y="2444213"/>
            <a:ext cx="10058400" cy="24683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Automate the end-to-end rental data workflow on AWS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 typeface="Arial" panose="020B0604020202020204" pitchFamily="34" charset="0"/>
              <a:buChar char="•"/>
              <a:tabLst/>
            </a:pPr>
            <a:r>
              <a:rPr lang="en-US" altLang="en-US" dirty="0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Maintain data quality, consistency, and reliability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Enable KPI-based decision-making through analytics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Provide a scalable foundation for future data-driven applications</a:t>
            </a:r>
          </a:p>
        </p:txBody>
      </p:sp>
    </p:spTree>
    <p:extLst>
      <p:ext uri="{BB962C8B-B14F-4D97-AF65-F5344CB8AC3E}">
        <p14:creationId xmlns:p14="http://schemas.microsoft.com/office/powerpoint/2010/main" val="1427612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5160" y="2297954"/>
            <a:ext cx="7135806" cy="2822687"/>
          </a:xfrm>
        </p:spPr>
        <p:txBody>
          <a:bodyPr>
            <a:normAutofit/>
          </a:bodyPr>
          <a:lstStyle/>
          <a:p>
            <a:r>
              <a:rPr lang="en-US" sz="2400" b="1" dirty="0"/>
              <a:t>Datasets Used: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/>
              <a:t> rental_transactions.csv</a:t>
            </a:r>
            <a:r>
              <a:rPr lang="en-US" dirty="0"/>
              <a:t> 	- Transaction-level details 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/>
              <a:t> users.csv		</a:t>
            </a:r>
            <a:r>
              <a:rPr lang="en-US" dirty="0"/>
              <a:t>- User demographics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/>
              <a:t> vehicles.csv		</a:t>
            </a:r>
            <a:r>
              <a:rPr lang="en-US" dirty="0"/>
              <a:t>- Vehicle details and pricing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/>
              <a:t> locations.csv		</a:t>
            </a:r>
            <a:r>
              <a:rPr lang="en-US" dirty="0"/>
              <a:t>- Pickup and drop-off locations</a:t>
            </a:r>
          </a:p>
        </p:txBody>
      </p:sp>
    </p:spTree>
    <p:extLst>
      <p:ext uri="{BB962C8B-B14F-4D97-AF65-F5344CB8AC3E}">
        <p14:creationId xmlns:p14="http://schemas.microsoft.com/office/powerpoint/2010/main" val="387035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High-Level Architecture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5213" y="5681307"/>
            <a:ext cx="93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Architecture diagram showing the complete AWS ETL workflow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E1309F-F4B4-3A66-981A-4E5770A5D4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6297" y="1972908"/>
            <a:ext cx="5239867" cy="359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18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Modeling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210292" y="1965516"/>
            <a:ext cx="4726165" cy="3583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Source Data (Inputs) 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	-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users table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dirty="0">
                <a:solidFill>
                  <a:schemeClr val="tx1"/>
                </a:solidFill>
                <a:latin typeface="Arial Unicode MS"/>
              </a:rPr>
              <a:t>	-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vehicles table</a:t>
            </a:r>
            <a:endParaRPr lang="en-US" altLang="en-US" dirty="0">
              <a:solidFill>
                <a:schemeClr val="tx1"/>
              </a:solidFill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- locations table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reference keys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b="1" dirty="0">
                <a:solidFill>
                  <a:schemeClr val="tx1"/>
                </a:solidFill>
                <a:latin typeface="Arial Unicode MS"/>
              </a:rPr>
              <a:t>	</a:t>
            </a:r>
            <a:r>
              <a:rPr lang="en-US" altLang="en-US" dirty="0">
                <a:solidFill>
                  <a:schemeClr val="tx1"/>
                </a:solidFill>
                <a:latin typeface="Arial Unicode MS"/>
              </a:rPr>
              <a:t>-</a:t>
            </a:r>
            <a:r>
              <a:rPr lang="en-US" altLang="en-US" b="1" dirty="0">
                <a:solidFill>
                  <a:schemeClr val="tx1"/>
                </a:solidFill>
                <a:latin typeface="Arial Unicode MS"/>
              </a:rPr>
              <a:t> </a:t>
            </a:r>
            <a:r>
              <a:rPr kumimoji="0" lang="en-US" altLang="en-US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user_id</a:t>
            </a:r>
            <a:endParaRPr lang="en-US" altLang="en-US" dirty="0">
              <a:solidFill>
                <a:schemeClr val="tx1"/>
              </a:solidFill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- </a:t>
            </a:r>
            <a:r>
              <a:rPr kumimoji="0" lang="en-US" altLang="en-US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vehicle_id</a:t>
            </a:r>
            <a:endParaRPr lang="en-US" altLang="en-US" dirty="0">
              <a:solidFill>
                <a:schemeClr val="tx1"/>
              </a:solidFill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- </a:t>
            </a:r>
            <a:r>
              <a:rPr kumimoji="0" lang="en-US" altLang="en-US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location_id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Processed Data 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rental_processed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109201" y="2041075"/>
            <a:ext cx="1772239" cy="584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Users.csv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07981" y="3464865"/>
            <a:ext cx="2760480" cy="584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rental_transactions.csv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9351" y="4888655"/>
            <a:ext cx="1772239" cy="584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Locations.csv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19" y="3464865"/>
            <a:ext cx="1772239" cy="584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Vehicles.csv</a:t>
            </a:r>
          </a:p>
        </p:txBody>
      </p:sp>
      <p:cxnSp>
        <p:nvCxnSpPr>
          <p:cNvPr id="19" name="Straight Connector 18"/>
          <p:cNvCxnSpPr>
            <a:cxnSpLocks/>
            <a:stCxn id="5" idx="2"/>
          </p:cNvCxnSpPr>
          <p:nvPr/>
        </p:nvCxnSpPr>
        <p:spPr>
          <a:xfrm>
            <a:off x="8995321" y="2625537"/>
            <a:ext cx="1057835" cy="8320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cxnSpLocks/>
            <a:endCxn id="7" idx="0"/>
          </p:cNvCxnSpPr>
          <p:nvPr/>
        </p:nvCxnSpPr>
        <p:spPr>
          <a:xfrm flipH="1">
            <a:off x="9095471" y="4024175"/>
            <a:ext cx="965960" cy="864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8" idx="3"/>
            <a:endCxn id="6" idx="1"/>
          </p:cNvCxnSpPr>
          <p:nvPr/>
        </p:nvCxnSpPr>
        <p:spPr>
          <a:xfrm>
            <a:off x="8008458" y="3757096"/>
            <a:ext cx="59952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0573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Snapshots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177" y="2525903"/>
            <a:ext cx="5171823" cy="25947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682" y="2525903"/>
            <a:ext cx="5091141" cy="259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5218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643" y="1418455"/>
            <a:ext cx="10782714" cy="3189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266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533" y="1139683"/>
            <a:ext cx="5887985" cy="272410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8048" y="1193718"/>
            <a:ext cx="5071008" cy="27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913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&amp; Optimization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097280" y="2529516"/>
            <a:ext cx="9669332" cy="2266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Processed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Parquet format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reducing storage and improving query speed.</a:t>
            </a:r>
          </a:p>
          <a:p>
            <a:pPr marR="0" lvl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Partitioned data by year/month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faster and cost-efficient Athena queries.</a:t>
            </a:r>
          </a:p>
          <a:p>
            <a:pPr marR="0" lvl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Optimized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Glue job execution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by enabling bookmarks.</a:t>
            </a:r>
          </a:p>
        </p:txBody>
      </p:sp>
    </p:spTree>
    <p:extLst>
      <p:ext uri="{BB962C8B-B14F-4D97-AF65-F5344CB8AC3E}">
        <p14:creationId xmlns:p14="http://schemas.microsoft.com/office/powerpoint/2010/main" val="29958426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KPI’s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95894" y="2202753"/>
            <a:ext cx="8322996" cy="30931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 Tracks daily rentals and revenue to monitor the business's day-to-day performance.</a:t>
            </a:r>
          </a:p>
          <a:p>
            <a:pPr>
              <a:lnSpc>
                <a:spcPct val="100000"/>
              </a:lnSpc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 Identifies the most valuable customers by showing their total spending and rental frequency.</a:t>
            </a:r>
          </a:p>
          <a:p>
            <a:pPr>
              <a:lnSpc>
                <a:spcPct val="100000"/>
              </a:lnSpc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 Shows which vehicle types and brands are the most profitable and most rented.   </a:t>
            </a:r>
          </a:p>
          <a:p>
            <a:pPr>
              <a:lnSpc>
                <a:spcPct val="100000"/>
              </a:lnSpc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 Ranks the rental locations by revenue to see which ones are the most successful.</a:t>
            </a:r>
          </a:p>
        </p:txBody>
      </p:sp>
    </p:spTree>
    <p:extLst>
      <p:ext uri="{BB962C8B-B14F-4D97-AF65-F5344CB8AC3E}">
        <p14:creationId xmlns:p14="http://schemas.microsoft.com/office/powerpoint/2010/main" val="2481518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Learnings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205659" y="2094780"/>
            <a:ext cx="8852741" cy="3434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Gained hands-on experience with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AWS Glue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ETL and data cataloging.</a:t>
            </a:r>
          </a:p>
          <a:p>
            <a:pPr marR="0" lvl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Learned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orchestrate workflows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efficiently using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 Functions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R="0" lvl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Improved understanding of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Athena query optimization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faster analysis.</a:t>
            </a:r>
          </a:p>
          <a:p>
            <a:pPr marR="0" lvl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Strengthened knowledge of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dependencies and pipeline automation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R="0" lvl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Understood the importance of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IAM roles and permissions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AWS services.</a:t>
            </a:r>
          </a:p>
        </p:txBody>
      </p:sp>
    </p:spTree>
    <p:extLst>
      <p:ext uri="{BB962C8B-B14F-4D97-AF65-F5344CB8AC3E}">
        <p14:creationId xmlns:p14="http://schemas.microsoft.com/office/powerpoint/2010/main" val="2937736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5891" y="2123640"/>
            <a:ext cx="9499002" cy="3622736"/>
          </a:xfrm>
        </p:spPr>
        <p:txBody>
          <a:bodyPr>
            <a:normAutofit/>
          </a:bodyPr>
          <a:lstStyle/>
          <a:p>
            <a:pPr>
              <a:buClrTx/>
              <a:buSzPct val="130000"/>
              <a:buFont typeface="Arial" panose="020B0604020202020204" pitchFamily="34" charset="0"/>
              <a:buChar char="•"/>
            </a:pPr>
            <a:r>
              <a:rPr lang="en-IN" sz="2000" b="1" dirty="0"/>
              <a:t> Integrate Boto3 SDK :</a:t>
            </a:r>
          </a:p>
          <a:p>
            <a:pPr marL="0" indent="0">
              <a:buClrTx/>
              <a:buSzPct val="130000"/>
              <a:buNone/>
            </a:pPr>
            <a:r>
              <a:rPr lang="en-IN" b="1" dirty="0"/>
              <a:t>	</a:t>
            </a:r>
            <a:r>
              <a:rPr lang="en-US" sz="2000" dirty="0"/>
              <a:t>Automate Glue job execution and S3 operations directly from Python scripts.</a:t>
            </a:r>
          </a:p>
          <a:p>
            <a:pPr>
              <a:lnSpc>
                <a:spcPct val="150000"/>
              </a:lnSpc>
              <a:buClrTx/>
              <a:buSzPct val="130000"/>
              <a:buFont typeface="Arial" panose="020B0604020202020204" pitchFamily="34" charset="0"/>
              <a:buChar char="•"/>
            </a:pPr>
            <a:r>
              <a:rPr lang="en-IN" sz="2000" b="1" dirty="0"/>
              <a:t> Add Visualization Layer </a:t>
            </a:r>
            <a:r>
              <a:rPr lang="en-IN" b="1" dirty="0"/>
              <a:t>:</a:t>
            </a:r>
          </a:p>
          <a:p>
            <a:pPr marL="0" indent="0">
              <a:lnSpc>
                <a:spcPct val="100000"/>
              </a:lnSpc>
              <a:buClrTx/>
              <a:buSzPct val="130000"/>
              <a:buNone/>
            </a:pPr>
            <a:r>
              <a:rPr lang="en-IN" sz="2000" b="1" dirty="0"/>
              <a:t>	</a:t>
            </a:r>
            <a:r>
              <a:rPr lang="en-US" sz="2000" dirty="0"/>
              <a:t>Use tools like Amazon </a:t>
            </a:r>
            <a:r>
              <a:rPr lang="en-US" sz="2000" dirty="0" err="1"/>
              <a:t>QuickSight</a:t>
            </a:r>
            <a:r>
              <a:rPr lang="en-US" sz="2000" dirty="0"/>
              <a:t> </a:t>
            </a:r>
            <a:r>
              <a:rPr lang="en-IN" sz="2000" dirty="0"/>
              <a:t>to display metrics visually.</a:t>
            </a:r>
            <a:endParaRPr lang="en-US" sz="2000" dirty="0"/>
          </a:p>
          <a:p>
            <a:pPr>
              <a:lnSpc>
                <a:spcPct val="150000"/>
              </a:lnSpc>
              <a:buClrTx/>
              <a:buSzPct val="130000"/>
              <a:buFont typeface="Arial" panose="020B0604020202020204" pitchFamily="34" charset="0"/>
              <a:buChar char="•"/>
            </a:pPr>
            <a:r>
              <a:rPr lang="en-IN" sz="2000" b="1" dirty="0"/>
              <a:t> Add Error Alerts </a:t>
            </a:r>
            <a:r>
              <a:rPr lang="en-IN" b="1" dirty="0"/>
              <a:t>:</a:t>
            </a:r>
          </a:p>
          <a:p>
            <a:pPr marL="0" indent="0">
              <a:lnSpc>
                <a:spcPct val="100000"/>
              </a:lnSpc>
              <a:buClrTx/>
              <a:buSzPct val="130000"/>
              <a:buNone/>
            </a:pPr>
            <a:r>
              <a:rPr lang="en-IN" sz="2000" b="1" dirty="0"/>
              <a:t>	</a:t>
            </a:r>
            <a:r>
              <a:rPr lang="en-US" sz="2000" dirty="0"/>
              <a:t>Configure SNS notifications for job failures.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4128869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AB7084-CFD5-4526-9A97-451B431DE91D}"/>
              </a:ext>
            </a:extLst>
          </p:cNvPr>
          <p:cNvSpPr txBox="1"/>
          <p:nvPr/>
        </p:nvSpPr>
        <p:spPr>
          <a:xfrm>
            <a:off x="4531658" y="2447365"/>
            <a:ext cx="312868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600" dirty="0">
                <a:solidFill>
                  <a:schemeClr val="accent1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83490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4067" y="2792507"/>
            <a:ext cx="55964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solidFill>
                  <a:schemeClr val="accent2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3597448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567</TotalTime>
  <Words>477</Words>
  <Application>Microsoft Office PowerPoint</Application>
  <PresentationFormat>Widescreen</PresentationFormat>
  <Paragraphs>67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Arial Unicode MS</vt:lpstr>
      <vt:lpstr>Calibri</vt:lpstr>
      <vt:lpstr>Calibri Light</vt:lpstr>
      <vt:lpstr>Wingdings</vt:lpstr>
      <vt:lpstr>Retrospect</vt:lpstr>
      <vt:lpstr>Rental Data Pipeline</vt:lpstr>
      <vt:lpstr>Team Members</vt:lpstr>
      <vt:lpstr>Overview</vt:lpstr>
      <vt:lpstr>Use Cases</vt:lpstr>
      <vt:lpstr>Input Data Overview</vt:lpstr>
      <vt:lpstr>High-Level Architecture</vt:lpstr>
      <vt:lpstr>Data Modeling</vt:lpstr>
      <vt:lpstr>Implementation Snapshots</vt:lpstr>
      <vt:lpstr>PowerPoint Presentation</vt:lpstr>
      <vt:lpstr>PowerPoint Presentation</vt:lpstr>
      <vt:lpstr>Performance &amp; Optimization</vt:lpstr>
      <vt:lpstr>Business KPI’s</vt:lpstr>
      <vt:lpstr>Key Learnings</vt:lpstr>
      <vt:lpstr>Future Scope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csc</dc:creator>
  <cp:lastModifiedBy>Mr.Lucifer 666</cp:lastModifiedBy>
  <cp:revision>38</cp:revision>
  <dcterms:created xsi:type="dcterms:W3CDTF">2025-11-04T14:38:35Z</dcterms:created>
  <dcterms:modified xsi:type="dcterms:W3CDTF">2025-11-06T11:52:55Z</dcterms:modified>
</cp:coreProperties>
</file>